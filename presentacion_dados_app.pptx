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>
                <a:solidFill>
                  <a:srgbClr val="03A9F4"/>
                </a:solidFill>
                <a:latin typeface="Outfit"/>
              </a:defRPr>
            </a:pPr>
            <a:r>
              <a:t>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3F4F6"/>
                </a:solidFill>
                <a:latin typeface="Outfit"/>
              </a:defRPr>
            </a:pPr>
            <a:r>
              <a:t>Dados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3A9F4"/>
                </a:solidFill>
                <a:latin typeface="Outfit"/>
              </a:defRPr>
            </a:pPr>
            <a:r>
              <a:t>Sistema Integrado de Ventas, Cobros y Distribución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46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9CA3AF"/>
                </a:solidFill>
                <a:latin typeface="Inter"/>
              </a:defRPr>
            </a:pPr>
            <a:r>
              <a:t>Manual de Inducción y Protocolo Operativo de Campo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3F4F6"/>
                </a:solidFill>
                <a:latin typeface="Outfit"/>
              </a:defRPr>
            </a:pPr>
            <a:r>
              <a:t>Acceso y Seguridad de la Información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3A9F4"/>
                </a:solidFill>
                <a:latin typeface="Outfit"/>
              </a:defRPr>
            </a:pPr>
            <a:r>
              <a:t>DADOS APP • Inducción</a:t>
            </a:r>
          </a:p>
        </p:txBody>
      </p:sp>
      <p:pic>
        <p:nvPicPr>
          <p:cNvPr id="4" name="Picture 3" descr="login_screen_mockup_17799326333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283464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49039" y="118872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CA3AF"/>
                </a:solidFill>
                <a:latin typeface="Inter"/>
              </a:defRPr>
            </a:pPr>
            <a:r>
              <a:t>Protocolo seguro de ingreso para resguardar la base de datos comercial en campo.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1828800"/>
            <a:ext cx="7863840" cy="1005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400" b="1">
                <a:solidFill>
                  <a:srgbClr val="03A9F4"/>
                </a:solidFill>
                <a:latin typeface="Outfit"/>
              </a:defRPr>
            </a:pPr>
            <a:r>
              <a:t>01  Validación Biométrica de Ruta</a:t>
            </a:r>
          </a:p>
          <a:p>
            <a:pPr>
              <a:defRPr sz="1150">
                <a:solidFill>
                  <a:srgbClr val="9CA3AF"/>
                </a:solidFill>
                <a:latin typeface="Inter"/>
              </a:defRPr>
            </a:pPr>
            <a:r>
              <a:t>Soporte nativo para inicio de sesión por huella dactilar o reconocimiento facial, eliminando demoras de digitación.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3017520"/>
            <a:ext cx="7863840" cy="1005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400" b="1">
                <a:solidFill>
                  <a:srgbClr val="03A9F4"/>
                </a:solidFill>
                <a:latin typeface="Outfit"/>
              </a:defRPr>
            </a:pPr>
            <a:r>
              <a:t>02  Auto-Login Corporativo</a:t>
            </a:r>
          </a:p>
          <a:p>
            <a:pPr>
              <a:defRPr sz="1150">
                <a:solidFill>
                  <a:srgbClr val="9CA3AF"/>
                </a:solidFill>
                <a:latin typeface="Inter"/>
              </a:defRPr>
            </a:pPr>
            <a:r>
              <a:t>Mecanismo seguro que detecta y reactiva la última sesión en 5 segundos, garantizando agilidad de uso en ruta.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4206240"/>
            <a:ext cx="7863840" cy="1005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400" b="1">
                <a:solidFill>
                  <a:srgbClr val="03A9F4"/>
                </a:solidFill>
                <a:latin typeface="Outfit"/>
              </a:defRPr>
            </a:pPr>
            <a:r>
              <a:t>03  Destrucción Segura de Datos</a:t>
            </a:r>
          </a:p>
          <a:p>
            <a:pPr>
              <a:defRPr sz="1150">
                <a:solidFill>
                  <a:srgbClr val="9CA3AF"/>
                </a:solidFill>
                <a:latin typeface="Inter"/>
              </a:defRPr>
            </a:pPr>
            <a:r>
              <a:t>Al cerrar sesión, la app elimina localmente credenciales, tokens de API y borradores de pedidos en campo como medida de protección.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3F4F6"/>
                </a:solidFill>
                <a:latin typeface="Outfit"/>
              </a:defRPr>
            </a:pPr>
            <a:r>
              <a:t>Consola de Mando (Dashboard)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3A9F4"/>
                </a:solidFill>
                <a:latin typeface="Outfit"/>
              </a:defRPr>
            </a:pPr>
            <a:r>
              <a:t>DADOS APP • Inducción</a:t>
            </a:r>
          </a:p>
        </p:txBody>
      </p:sp>
      <p:pic>
        <p:nvPicPr>
          <p:cNvPr id="4" name="Picture 3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283464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49039" y="118872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CA3AF"/>
                </a:solidFill>
                <a:latin typeface="Inter"/>
              </a:defRPr>
            </a:pPr>
            <a:r>
              <a:t>Planificación estructurada de las actividades del día para el personal comercial.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1828800"/>
            <a:ext cx="7863840" cy="1005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400" b="1">
                <a:solidFill>
                  <a:srgbClr val="03A9F4"/>
                </a:solidFill>
                <a:latin typeface="Outfit"/>
              </a:defRPr>
            </a:pPr>
            <a:r>
              <a:t>01  Indicadores Clave de Desempeño</a:t>
            </a:r>
          </a:p>
          <a:p>
            <a:pPr>
              <a:defRPr sz="1150">
                <a:solidFill>
                  <a:srgbClr val="9CA3AF"/>
                </a:solidFill>
                <a:latin typeface="Inter"/>
              </a:defRPr>
            </a:pPr>
            <a:r>
              <a:t>Control consolidado mensual de ventas en dólares, pedidos en proceso y volumen total de órdenes asignadas.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3017520"/>
            <a:ext cx="7863840" cy="1005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400" b="1">
                <a:solidFill>
                  <a:srgbClr val="03A9F4"/>
                </a:solidFill>
                <a:latin typeface="Outfit"/>
              </a:defRPr>
            </a:pPr>
            <a:r>
              <a:t>02  Consolidado Logístico de Ruta</a:t>
            </a:r>
          </a:p>
          <a:p>
            <a:pPr>
              <a:defRPr sz="1150">
                <a:solidFill>
                  <a:srgbClr val="9CA3AF"/>
                </a:solidFill>
                <a:latin typeface="Inter"/>
              </a:defRPr>
            </a:pPr>
            <a:r>
              <a:t>Tarjeta destacada que resume cuántas entregas están agendadas para hoy, facilitando la auditoría de ruta.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4206240"/>
            <a:ext cx="7863840" cy="1005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400" b="1">
                <a:solidFill>
                  <a:srgbClr val="03A9F4"/>
                </a:solidFill>
                <a:latin typeface="Outfit"/>
              </a:defRPr>
            </a:pPr>
            <a:r>
              <a:t>03  Filtro Directo del Itinerario</a:t>
            </a:r>
          </a:p>
          <a:p>
            <a:pPr>
              <a:defRPr sz="1150">
                <a:solidFill>
                  <a:srgbClr val="9CA3AF"/>
                </a:solidFill>
                <a:latin typeface="Inter"/>
              </a:defRPr>
            </a:pPr>
            <a:r>
              <a:t>Al pulsar 'Ver Detalles' en la tarjeta de hoy, la app filtra el historial para mostrar únicamente los despachos prioritarios agendados.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3F4F6"/>
                </a:solidFill>
                <a:latin typeface="Outfit"/>
              </a:defRPr>
            </a:pPr>
            <a:r>
              <a:t>Toma de Pedido en Campo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3A9F4"/>
                </a:solidFill>
                <a:latin typeface="Outfit"/>
              </a:defRPr>
            </a:pPr>
            <a:r>
              <a:t>DADOS APP • Inducción</a:t>
            </a:r>
          </a:p>
        </p:txBody>
      </p:sp>
      <p:pic>
        <p:nvPicPr>
          <p:cNvPr id="4" name="Picture 3" descr="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246888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1792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3A9F4"/>
                </a:solidFill>
                <a:latin typeface="Inter"/>
              </a:defRPr>
            </a:pPr>
            <a:r>
              <a:t>Parte 1: Catálogo</a:t>
            </a:r>
          </a:p>
        </p:txBody>
      </p:sp>
      <p:pic>
        <p:nvPicPr>
          <p:cNvPr id="6" name="Picture 5" descr="order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188720"/>
            <a:ext cx="246888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0" y="621792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3A9F4"/>
                </a:solidFill>
                <a:latin typeface="Inter"/>
              </a:defRPr>
            </a:pPr>
            <a:r>
              <a:t>Parte 2: GPS y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18872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CA3AF"/>
                </a:solidFill>
                <a:latin typeface="Inter"/>
              </a:defRPr>
            </a:pPr>
            <a:r>
              <a:t>Formulario de registro transaccional resistente a fallos de cobertura de red en campo.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828800"/>
            <a:ext cx="5760720" cy="1005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300" b="1">
                <a:solidFill>
                  <a:srgbClr val="03A9F4"/>
                </a:solidFill>
                <a:latin typeface="Outfit"/>
              </a:defRPr>
            </a:pPr>
            <a:r>
              <a:t>01  Buscador con Filtro Inteligente</a:t>
            </a:r>
          </a:p>
          <a:p>
            <a:pPr>
              <a:defRPr sz="1050">
                <a:solidFill>
                  <a:srgbClr val="9CA3AF"/>
                </a:solidFill>
                <a:latin typeface="Inter"/>
              </a:defRPr>
            </a:pPr>
            <a:r>
              <a:t>Filtro de clientes por RUC o Razón Social con debounce de 300ms para estabilidad de red. Carga automática de sucursales.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3017520"/>
            <a:ext cx="5760720" cy="1005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300" b="1">
                <a:solidFill>
                  <a:srgbClr val="03A9F4"/>
                </a:solidFill>
                <a:latin typeface="Outfit"/>
              </a:defRPr>
            </a:pPr>
            <a:r>
              <a:t>02  Borradores Locales Resilientes (Auto-Save)</a:t>
            </a:r>
          </a:p>
          <a:p>
            <a:pPr>
              <a:defRPr sz="1050">
                <a:solidFill>
                  <a:srgbClr val="9CA3AF"/>
                </a:solidFill>
                <a:latin typeface="Inter"/>
              </a:defRPr>
            </a:pPr>
            <a:r>
              <a:t>El carrito, coordenadas y datos ingresados se auto-guardan en tiempo real. Cero pérdidas de datos por fallas del terminal.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4206240"/>
            <a:ext cx="5760720" cy="1005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300" b="1">
                <a:solidFill>
                  <a:srgbClr val="03A9F4"/>
                </a:solidFill>
                <a:latin typeface="Outfit"/>
              </a:defRPr>
            </a:pPr>
            <a:r>
              <a:t>03  Georreferenciación GPS Obligatoria</a:t>
            </a:r>
          </a:p>
          <a:p>
            <a:pPr>
              <a:defRPr sz="1050">
                <a:solidFill>
                  <a:srgbClr val="9CA3AF"/>
                </a:solidFill>
                <a:latin typeface="Inter"/>
              </a:defRPr>
            </a:pPr>
            <a:r>
              <a:t>Lee la coordenada satelital al guardar la orden y la ubica en Google Maps para auditar que la visita comercial fue presencial.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5394959"/>
            <a:ext cx="5760720" cy="1005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300" b="1">
                <a:solidFill>
                  <a:srgbClr val="03A9F4"/>
                </a:solidFill>
                <a:latin typeface="Outfit"/>
              </a:defRPr>
            </a:pPr>
            <a:r>
              <a:t>04  Condiciones Financieras Dinámicas</a:t>
            </a:r>
          </a:p>
          <a:p>
            <a:pPr>
              <a:defRPr sz="1050">
                <a:solidFill>
                  <a:srgbClr val="9CA3AF"/>
                </a:solidFill>
                <a:latin typeface="Inter"/>
              </a:defRPr>
            </a:pPr>
            <a:r>
              <a:t>Chips de selección rápida de productos, cálculos en barra inferior y activación condicional del plazo de Crédito.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3F4F6"/>
                </a:solidFill>
                <a:latin typeface="Outfit"/>
              </a:defRPr>
            </a:pPr>
            <a:r>
              <a:t>Revisión y Firma Digital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3A9F4"/>
                </a:solidFill>
                <a:latin typeface="Outfit"/>
              </a:defRPr>
            </a:pPr>
            <a:r>
              <a:t>DADOS APP • Inducción</a:t>
            </a:r>
          </a:p>
        </p:txBody>
      </p:sp>
      <p:pic>
        <p:nvPicPr>
          <p:cNvPr id="4" name="Picture 3" descr="sign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246888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1792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3A9F4"/>
                </a:solidFill>
                <a:latin typeface="Inter"/>
              </a:defRPr>
            </a:pPr>
            <a:r>
              <a:t>Parte 1: Totales</a:t>
            </a:r>
          </a:p>
        </p:txBody>
      </p:sp>
      <p:pic>
        <p:nvPicPr>
          <p:cNvPr id="6" name="Picture 5" descr="signatur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188720"/>
            <a:ext cx="246888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0" y="621792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3A9F4"/>
                </a:solidFill>
                <a:latin typeface="Inter"/>
              </a:defRPr>
            </a:pPr>
            <a:r>
              <a:t>Parte 2: Firma Táctil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18872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CA3AF"/>
                </a:solidFill>
                <a:latin typeface="Inter"/>
              </a:defRPr>
            </a:pPr>
            <a:r>
              <a:t>Protocolo de cierre comercial para asegurar la validez legal y evitar reclamos posteriores.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828800"/>
            <a:ext cx="5760720" cy="1005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300" b="1">
                <a:solidFill>
                  <a:srgbClr val="03A9F4"/>
                </a:solidFill>
                <a:latin typeface="Outfit"/>
              </a:defRPr>
            </a:pPr>
            <a:r>
              <a:t>01  Desglose Contable Detallado</a:t>
            </a:r>
          </a:p>
          <a:p>
            <a:pPr>
              <a:defRPr sz="1050">
                <a:solidFill>
                  <a:srgbClr val="9CA3AF"/>
                </a:solidFill>
                <a:latin typeface="Inter"/>
              </a:defRPr>
            </a:pPr>
            <a:r>
              <a:t>Visualiza la cantidad, precios unitarios, subtotal exacto, cálculo preciso de IVA y el Total General para validación del cliente.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3017520"/>
            <a:ext cx="5760720" cy="1005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300" b="1">
                <a:solidFill>
                  <a:srgbClr val="03A9F4"/>
                </a:solidFill>
                <a:latin typeface="Outfit"/>
              </a:defRPr>
            </a:pPr>
            <a:r>
              <a:t>02  Identificación de Responsable Físico</a:t>
            </a:r>
          </a:p>
          <a:p>
            <a:pPr>
              <a:defRPr sz="1050">
                <a:solidFill>
                  <a:srgbClr val="9CA3AF"/>
                </a:solidFill>
                <a:latin typeface="Inter"/>
              </a:defRPr>
            </a:pPr>
            <a:r>
              <a:t>Campos obligatorios para capturar el Nombre de quien recibe y su RUC/Cédula, previniendo disputas contables o entregas perdidas.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4206240"/>
            <a:ext cx="5760720" cy="1005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300" b="1">
                <a:solidFill>
                  <a:srgbClr val="03A9F4"/>
                </a:solidFill>
                <a:latin typeface="Outfit"/>
              </a:defRPr>
            </a:pPr>
            <a:r>
              <a:t>03  Captura de Firma Digitalizada</a:t>
            </a:r>
          </a:p>
          <a:p>
            <a:pPr>
              <a:defRPr sz="1050">
                <a:solidFill>
                  <a:srgbClr val="9CA3AF"/>
                </a:solidFill>
                <a:latin typeface="Inter"/>
              </a:defRPr>
            </a:pPr>
            <a:r>
              <a:t>Lienzo digital interactivo para firmar con el dedo sobre la pantalla móvil. Se limpia fácilmente para reintentos y viaja inmutable a la base de datos Laravel.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3F4F6"/>
                </a:solidFill>
                <a:latin typeface="Outfit"/>
              </a:defRPr>
            </a:pPr>
            <a:r>
              <a:t>Detalle del Pedido y Despacho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3A9F4"/>
                </a:solidFill>
                <a:latin typeface="Outfit"/>
              </a:defRPr>
            </a:pPr>
            <a:r>
              <a:t>DADOS APP • Inducción</a:t>
            </a:r>
          </a:p>
        </p:txBody>
      </p:sp>
      <p:pic>
        <p:nvPicPr>
          <p:cNvPr id="4" name="Picture 3" descr="history_da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246888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1792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3A9F4"/>
                </a:solidFill>
                <a:latin typeface="Inter"/>
              </a:defRPr>
            </a:pPr>
            <a:r>
              <a:t>Parte 1: Timeline</a:t>
            </a:r>
          </a:p>
        </p:txBody>
      </p:sp>
      <p:pic>
        <p:nvPicPr>
          <p:cNvPr id="6" name="Picture 5" descr="history_detail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188720"/>
            <a:ext cx="246888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0" y="621792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3A9F4"/>
                </a:solidFill>
                <a:latin typeface="Inter"/>
              </a:defRPr>
            </a:pPr>
            <a:r>
              <a:t>Parte 2: Despacho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18872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CA3AF"/>
                </a:solidFill>
                <a:latin typeface="Inter"/>
              </a:defRPr>
            </a:pPr>
            <a:r>
              <a:t>Consola del repartidor en ruta para auditar la entrega y registrar el cobro oficial.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828800"/>
            <a:ext cx="5760720" cy="1005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300" b="1">
                <a:solidFill>
                  <a:srgbClr val="03A9F4"/>
                </a:solidFill>
                <a:latin typeface="Outfit"/>
              </a:defRPr>
            </a:pPr>
            <a:r>
              <a:t>01  Timeline de Progreso Logístico</a:t>
            </a:r>
          </a:p>
          <a:p>
            <a:pPr>
              <a:defRPr sz="1050">
                <a:solidFill>
                  <a:srgbClr val="9CA3AF"/>
                </a:solidFill>
                <a:latin typeface="Inter"/>
              </a:defRPr>
            </a:pPr>
            <a:r>
              <a:t>Muestra visualmente la etapa de la orden: Recibido ➔ Facturado ➔ En camino (automático para hoy) ➔ Entregado.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3017520"/>
            <a:ext cx="5760720" cy="1005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300" b="1">
                <a:solidFill>
                  <a:srgbClr val="03A9F4"/>
                </a:solidFill>
                <a:latin typeface="Outfit"/>
              </a:defRPr>
            </a:pPr>
            <a:r>
              <a:t>02  Auditoría de Firma e Identificación</a:t>
            </a:r>
          </a:p>
          <a:p>
            <a:pPr>
              <a:defRPr sz="1050">
                <a:solidFill>
                  <a:srgbClr val="9CA3AF"/>
                </a:solidFill>
                <a:latin typeface="Inter"/>
              </a:defRPr>
            </a:pPr>
            <a:r>
              <a:t>Recupera la imagen de la firma de conformidad y los datos del responsable que fueron capturados en campo.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4206240"/>
            <a:ext cx="5760720" cy="1005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300" b="1">
                <a:solidFill>
                  <a:srgbClr val="03A9F4"/>
                </a:solidFill>
                <a:latin typeface="Outfit"/>
              </a:defRPr>
            </a:pPr>
            <a:r>
              <a:t>03  Alerta Inteligente de Facturación 🚨</a:t>
            </a:r>
          </a:p>
          <a:p>
            <a:pPr>
              <a:defRPr sz="1050">
                <a:solidFill>
                  <a:srgbClr val="9CA3AF"/>
                </a:solidFill>
                <a:latin typeface="Inter"/>
              </a:defRPr>
            </a:pPr>
            <a:r>
              <a:t>Si el repartidor presiona 'Entregar Pedido' sin el switch 'Facturado' activo, la app bloquea temporalmente el flujo y advierte al chofer para evitar entregar hielo sin factura.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3F4F6"/>
                </a:solidFill>
                <a:latin typeface="Outfit"/>
              </a:defRPr>
            </a:pPr>
            <a:r>
              <a:t>Auditoría e Historial de Pedidos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3A9F4"/>
                </a:solidFill>
                <a:latin typeface="Outfit"/>
              </a:defRPr>
            </a:pPr>
            <a:r>
              <a:t>DADOS APP • Inducción</a:t>
            </a:r>
          </a:p>
        </p:txBody>
      </p:sp>
      <p:pic>
        <p:nvPicPr>
          <p:cNvPr id="4" name="Picture 3" descr="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283464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49039" y="118872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CA3AF"/>
                </a:solidFill>
                <a:latin typeface="Inter"/>
              </a:defRPr>
            </a:pPr>
            <a:r>
              <a:t>Módulo centralizado para auditar e inspeccionar todo el histórico de transacciones.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1828800"/>
            <a:ext cx="7863840" cy="1005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400" b="1">
                <a:solidFill>
                  <a:srgbClr val="03A9F4"/>
                </a:solidFill>
                <a:latin typeface="Outfit"/>
              </a:defRPr>
            </a:pPr>
            <a:r>
              <a:t>01  Segmentación por Pestañas de Estado</a:t>
            </a:r>
          </a:p>
          <a:p>
            <a:pPr>
              <a:defRPr sz="1150">
                <a:solidFill>
                  <a:srgbClr val="9CA3AF"/>
                </a:solidFill>
                <a:latin typeface="Inter"/>
              </a:defRPr>
            </a:pPr>
            <a:r>
              <a:t>Chips de selección instantánea para agrupar las órdenes por: Todos, Entregas Hoy, Pendientes, Completados o Cancelados.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3017520"/>
            <a:ext cx="7863840" cy="1005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400" b="1">
                <a:solidFill>
                  <a:srgbClr val="03A9F4"/>
                </a:solidFill>
                <a:latin typeface="Outfit"/>
              </a:defRPr>
            </a:pPr>
            <a:r>
              <a:t>02  Buscador Global e Integrado</a:t>
            </a:r>
          </a:p>
          <a:p>
            <a:pPr>
              <a:defRPr sz="1150">
                <a:solidFill>
                  <a:srgbClr val="9CA3AF"/>
                </a:solidFill>
                <a:latin typeface="Inter"/>
              </a:defRPr>
            </a:pPr>
            <a:r>
              <a:t>Permite ubicar cualquier orden digitando directamente el ID (#) de pedido o el nombre comercial del cliente.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4206240"/>
            <a:ext cx="7863840" cy="1005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400" b="1">
                <a:solidFill>
                  <a:srgbClr val="03A9F4"/>
                </a:solidFill>
                <a:latin typeface="Outfit"/>
              </a:defRPr>
            </a:pPr>
            <a:r>
              <a:t>03  Badges de Facturación de un Vistazo</a:t>
            </a:r>
          </a:p>
          <a:p>
            <a:pPr>
              <a:defRPr sz="1150">
                <a:solidFill>
                  <a:srgbClr val="9CA3AF"/>
                </a:solidFill>
                <a:latin typeface="Inter"/>
              </a:defRPr>
            </a:pPr>
            <a:r>
              <a:t>Cada tarjeta detalla visiblemente si la orden está en estado 'Facturado' o 'Prefacturado', simplificando el control contable en ruta.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3F4F6"/>
                </a:solidFill>
                <a:latin typeface="Outfit"/>
              </a:defRPr>
            </a:pPr>
            <a:r>
              <a:t>Perfil de Usuario y Soporte Técnico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3A9F4"/>
                </a:solidFill>
                <a:latin typeface="Outfit"/>
              </a:defRPr>
            </a:pPr>
            <a:r>
              <a:t>DADOS APP • Inducción</a:t>
            </a:r>
          </a:p>
        </p:txBody>
      </p:sp>
      <p:pic>
        <p:nvPicPr>
          <p:cNvPr id="4" name="Picture 3" descr="my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283464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49039" y="118872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CA3AF"/>
                </a:solidFill>
                <a:latin typeface="Inter"/>
              </a:defRPr>
            </a:pPr>
            <a:r>
              <a:t>Área de control individual, gestión de seguridad y soporte corporativo.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1828800"/>
            <a:ext cx="7863840" cy="1005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400" b="1">
                <a:solidFill>
                  <a:srgbClr val="03A9F4"/>
                </a:solidFill>
                <a:latin typeface="Outfit"/>
              </a:defRPr>
            </a:pPr>
            <a:r>
              <a:t>01  Estadísticas Mensuales de Desempeño</a:t>
            </a:r>
          </a:p>
          <a:p>
            <a:pPr>
              <a:defRPr sz="1150">
                <a:solidFill>
                  <a:srgbClr val="9CA3AF"/>
                </a:solidFill>
                <a:latin typeface="Inter"/>
              </a:defRPr>
            </a:pPr>
            <a:r>
              <a:t>Consolida las ventas individuales acumuladas en dólares y los pedidos completados en el mes en curso.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3017520"/>
            <a:ext cx="7863840" cy="1005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400" b="1">
                <a:solidFill>
                  <a:srgbClr val="03A9F4"/>
                </a:solidFill>
                <a:latin typeface="Outfit"/>
              </a:defRPr>
            </a:pPr>
            <a:r>
              <a:t>02  Canal de Soporte Directo (WhatsApp)</a:t>
            </a:r>
          </a:p>
          <a:p>
            <a:pPr>
              <a:defRPr sz="1150">
                <a:solidFill>
                  <a:srgbClr val="9CA3AF"/>
                </a:solidFill>
                <a:latin typeface="Inter"/>
              </a:defRPr>
            </a:pPr>
            <a:r>
              <a:t>Redirección rápida a WhatsApp del soporte corporativo con plantilla de mensaje lista para asistencia técnica en ruta.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4206240"/>
            <a:ext cx="7863840" cy="1005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400" b="1">
                <a:solidFill>
                  <a:srgbClr val="03A9F4"/>
                </a:solidFill>
                <a:latin typeface="Outfit"/>
              </a:defRPr>
            </a:pPr>
            <a:r>
              <a:t>03  Administración Segura de Contraseña</a:t>
            </a:r>
          </a:p>
          <a:p>
            <a:pPr>
              <a:defRPr sz="1150">
                <a:solidFill>
                  <a:srgbClr val="9CA3AF"/>
                </a:solidFill>
                <a:latin typeface="Inter"/>
              </a:defRPr>
            </a:pPr>
            <a:r>
              <a:t>Diálogo integrado que permite el cambio de credenciales de seguridad directo con el servidor sin salir de la app.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3F4F6"/>
                </a:solidFill>
                <a:latin typeface="Outfit"/>
              </a:defRPr>
            </a:pPr>
            <a:r>
              <a:t>Resumen del Protocolo Comercial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3A9F4"/>
                </a:solidFill>
                <a:latin typeface="Outfit"/>
              </a:defRPr>
            </a:pPr>
            <a:r>
              <a:t>DADOS APP • Inducción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CA3AF"/>
                </a:solidFill>
                <a:latin typeface="Inter"/>
              </a:defRPr>
            </a:pPr>
            <a:r>
              <a:t>Pautas indispensables de adopción operativa que el personal de campo debe dominar: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2560320" cy="4389120"/>
          </a:xfrm>
          <a:prstGeom prst="roundRect">
            <a:avLst/>
          </a:prstGeom>
          <a:solidFill>
            <a:srgbClr val="18202F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200" b="1">
                <a:solidFill>
                  <a:srgbClr val="03A9F4"/>
                </a:solidFill>
                <a:latin typeface="Outfit"/>
              </a:defRPr>
            </a:pPr>
            <a:r>
              <a:t>Protocolo 01</a:t>
            </a:r>
          </a:p>
          <a:p>
            <a:pPr algn="ctr">
              <a:defRPr sz="1500" b="1">
                <a:solidFill>
                  <a:srgbClr val="F3F4F6"/>
                </a:solidFill>
                <a:latin typeface="Outfit"/>
              </a:defRPr>
            </a:pPr>
            <a:br/>
            <a:r>
              <a:t>Auto-Guardado</a:t>
            </a:r>
          </a:p>
          <a:p>
            <a:pPr algn="ctr">
              <a:defRPr sz="1100">
                <a:solidFill>
                  <a:srgbClr val="9CA3AF"/>
                </a:solidFill>
                <a:latin typeface="Inter"/>
              </a:defRPr>
            </a:pPr>
            <a:br/>
            <a:r>
              <a:t>Los pedidos se auto-guardan como borrador en tiempo real. Enfatice esto al vendedor para su tranquilidad frente a cortes de red en campo.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737360"/>
            <a:ext cx="2560320" cy="4389120"/>
          </a:xfrm>
          <a:prstGeom prst="roundRect">
            <a:avLst/>
          </a:prstGeom>
          <a:solidFill>
            <a:srgbClr val="18202F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200" b="1">
                <a:solidFill>
                  <a:srgbClr val="03A9F4"/>
                </a:solidFill>
                <a:latin typeface="Outfit"/>
              </a:defRPr>
            </a:pPr>
            <a:r>
              <a:t>Protocolo 02</a:t>
            </a:r>
          </a:p>
          <a:p>
            <a:pPr algn="ctr">
              <a:defRPr sz="1500" b="1">
                <a:solidFill>
                  <a:srgbClr val="F3F4F6"/>
                </a:solidFill>
                <a:latin typeface="Outfit"/>
              </a:defRPr>
            </a:pPr>
            <a:br/>
            <a:r>
              <a:t>GPS e Integración</a:t>
            </a:r>
          </a:p>
          <a:p>
            <a:pPr algn="ctr">
              <a:defRPr sz="1100">
                <a:solidFill>
                  <a:srgbClr val="9CA3AF"/>
                </a:solidFill>
                <a:latin typeface="Inter"/>
              </a:defRPr>
            </a:pPr>
            <a:br/>
            <a:r>
              <a:t>La toma de ubicación en el mapa al crear el pedido garantiza a la administración que el vendedor visitó físicamente al cliente.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79" y="1737360"/>
            <a:ext cx="2560320" cy="4389120"/>
          </a:xfrm>
          <a:prstGeom prst="roundRect">
            <a:avLst/>
          </a:prstGeom>
          <a:solidFill>
            <a:srgbClr val="18202F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200" b="1">
                <a:solidFill>
                  <a:srgbClr val="03A9F4"/>
                </a:solidFill>
                <a:latin typeface="Outfit"/>
              </a:defRPr>
            </a:pPr>
            <a:r>
              <a:t>Protocolo 03</a:t>
            </a:r>
          </a:p>
          <a:p>
            <a:pPr algn="ctr">
              <a:defRPr sz="1500" b="1">
                <a:solidFill>
                  <a:srgbClr val="F3F4F6"/>
                </a:solidFill>
                <a:latin typeface="Outfit"/>
              </a:defRPr>
            </a:pPr>
            <a:br/>
            <a:r>
              <a:t>Conformidad Física</a:t>
            </a:r>
          </a:p>
          <a:p>
            <a:pPr algn="ctr">
              <a:defRPr sz="1100">
                <a:solidFill>
                  <a:srgbClr val="9CA3AF"/>
                </a:solidFill>
                <a:latin typeface="Inter"/>
              </a:defRPr>
            </a:pPr>
            <a:br/>
            <a:r>
              <a:t>El cliente firma digitalmente sobre la pantalla para asegurar la conformidad jurídica y evitar disputas contables posteriores.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1737360"/>
            <a:ext cx="2560320" cy="4389120"/>
          </a:xfrm>
          <a:prstGeom prst="roundRect">
            <a:avLst/>
          </a:prstGeom>
          <a:solidFill>
            <a:srgbClr val="18202F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200" b="1">
                <a:solidFill>
                  <a:srgbClr val="03A9F4"/>
                </a:solidFill>
                <a:latin typeface="Outfit"/>
              </a:defRPr>
            </a:pPr>
            <a:r>
              <a:t>Protocolo 04</a:t>
            </a:r>
          </a:p>
          <a:p>
            <a:pPr algn="ctr">
              <a:defRPr sz="1500" b="1">
                <a:solidFill>
                  <a:srgbClr val="F3F4F6"/>
                </a:solidFill>
                <a:latin typeface="Outfit"/>
              </a:defRPr>
            </a:pPr>
            <a:br/>
            <a:r>
              <a:t>Seguridad de Facturación</a:t>
            </a:r>
          </a:p>
          <a:p>
            <a:pPr algn="ctr">
              <a:defRPr sz="1100">
                <a:solidFill>
                  <a:srgbClr val="9CA3AF"/>
                </a:solidFill>
                <a:latin typeface="Inter"/>
              </a:defRPr>
            </a:pPr>
            <a:br/>
            <a:r>
              <a:t>El sistema de advertencia inteligente bloquea entregas físicas si la mercadería no está debidamente facturada por administración.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